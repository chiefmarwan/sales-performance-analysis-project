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46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7160"/>
            <a:ext cx="2103120" cy="21031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365760"/>
            <a:ext cx="2560320" cy="1645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" y="2377440"/>
            <a:ext cx="8412480" cy="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2560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Project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365760" y="4480560"/>
            <a:ext cx="841248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BB5B6-59E7-BE21-33D5-D50D1382EAA7}"/>
              </a:ext>
            </a:extLst>
          </p:cNvPr>
          <p:cNvSpPr txBox="1"/>
          <p:nvPr/>
        </p:nvSpPr>
        <p:spPr>
          <a:xfrm>
            <a:off x="5753911" y="36079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AD96A-D3C5-38F7-15FE-56DFF2390977}"/>
              </a:ext>
            </a:extLst>
          </p:cNvPr>
          <p:cNvSpPr txBox="1"/>
          <p:nvPr/>
        </p:nvSpPr>
        <p:spPr>
          <a:xfrm>
            <a:off x="5753911" y="388197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54C72D-131B-0E80-5CD9-0EE34AD81E87}"/>
              </a:ext>
            </a:extLst>
          </p:cNvPr>
          <p:cNvSpPr txBox="1"/>
          <p:nvPr/>
        </p:nvSpPr>
        <p:spPr>
          <a:xfrm>
            <a:off x="5846324" y="4142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Ismael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2"/>
          <p:cNvSpPr/>
          <p:nvPr/>
        </p:nvSpPr>
        <p:spPr>
          <a:xfrm>
            <a:off x="2697370" y="3035808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54" name="Shape 50"/>
          <p:cNvSpPr/>
          <p:nvPr/>
        </p:nvSpPr>
        <p:spPr>
          <a:xfrm>
            <a:off x="2556021" y="3035808"/>
            <a:ext cx="725009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58" name="Shape 54"/>
          <p:cNvSpPr/>
          <p:nvPr/>
        </p:nvSpPr>
        <p:spPr>
          <a:xfrm>
            <a:off x="3281030" y="3039518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4592" y="71323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10312" y="731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Sales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10312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2350008" y="71323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395728" y="731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Total Profit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395728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535424" y="71323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81144" y="731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Total Orders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81144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720840" y="71323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66560" y="731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Total Quantity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76656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37,873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64592" y="173736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210312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Profit Margin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10312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2350008" y="173736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2395728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Avg Discount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395728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4535424" y="173736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581144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81144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6720840" y="173736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766560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Products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1,862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160020" y="2761488"/>
            <a:ext cx="1720901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160020" y="2761488"/>
            <a:ext cx="1720901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28"/>
          <p:cNvSpPr/>
          <p:nvPr/>
        </p:nvSpPr>
        <p:spPr>
          <a:xfrm>
            <a:off x="187452" y="2761488"/>
            <a:ext cx="1666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196596" y="3035808"/>
            <a:ext cx="725009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4" name="Text 30"/>
          <p:cNvSpPr/>
          <p:nvPr/>
        </p:nvSpPr>
        <p:spPr>
          <a:xfrm>
            <a:off x="196596" y="3035808"/>
            <a:ext cx="7250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921605" y="3035808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6" name="Text 32"/>
          <p:cNvSpPr/>
          <p:nvPr/>
        </p:nvSpPr>
        <p:spPr>
          <a:xfrm>
            <a:off x="921605" y="3035808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1382975" y="3035808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8" name="Text 34"/>
          <p:cNvSpPr/>
          <p:nvPr/>
        </p:nvSpPr>
        <p:spPr>
          <a:xfrm>
            <a:off x="1382975" y="3035808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196596" y="3264408"/>
            <a:ext cx="1647749" cy="545592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40" name="Text 36"/>
          <p:cNvSpPr/>
          <p:nvPr/>
        </p:nvSpPr>
        <p:spPr>
          <a:xfrm>
            <a:off x="196596" y="3264408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921605" y="3264408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$836K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382975" y="3264408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196596" y="3810000"/>
            <a:ext cx="1647749" cy="545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0"/>
          <p:cNvSpPr/>
          <p:nvPr/>
        </p:nvSpPr>
        <p:spPr>
          <a:xfrm>
            <a:off x="196596" y="3810000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921605" y="3810000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$742K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1382975" y="3810000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196596" y="4355592"/>
            <a:ext cx="1647749" cy="545592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48" name="Text 44"/>
          <p:cNvSpPr/>
          <p:nvPr/>
        </p:nvSpPr>
        <p:spPr>
          <a:xfrm>
            <a:off x="196596" y="4355592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Sup.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921605" y="4355592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$719K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382975" y="4355592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2512963" y="2761488"/>
            <a:ext cx="1720901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2512957" y="2761488"/>
            <a:ext cx="1720901" cy="2743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3" name="Text 49"/>
          <p:cNvSpPr/>
          <p:nvPr/>
        </p:nvSpPr>
        <p:spPr>
          <a:xfrm>
            <a:off x="2540389" y="2761488"/>
            <a:ext cx="1666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Region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2568992" y="3035808"/>
            <a:ext cx="7250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3281030" y="3035808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42400" y="3035808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700" dirty="0"/>
          </a:p>
        </p:txBody>
      </p:sp>
      <p:sp>
        <p:nvSpPr>
          <p:cNvPr id="60" name="Shape 56"/>
          <p:cNvSpPr/>
          <p:nvPr/>
        </p:nvSpPr>
        <p:spPr>
          <a:xfrm>
            <a:off x="2556021" y="3264408"/>
            <a:ext cx="1647749" cy="409194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61" name="Text 57"/>
          <p:cNvSpPr/>
          <p:nvPr/>
        </p:nvSpPr>
        <p:spPr>
          <a:xfrm>
            <a:off x="2556021" y="3264408"/>
            <a:ext cx="725009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3281030" y="3264408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$725K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3742400" y="3264408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2556021" y="3673602"/>
            <a:ext cx="1647749" cy="409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1"/>
          <p:cNvSpPr/>
          <p:nvPr/>
        </p:nvSpPr>
        <p:spPr>
          <a:xfrm>
            <a:off x="2556021" y="3673602"/>
            <a:ext cx="725009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50" dirty="0"/>
          </a:p>
        </p:txBody>
      </p:sp>
      <p:sp>
        <p:nvSpPr>
          <p:cNvPr id="66" name="Text 62"/>
          <p:cNvSpPr/>
          <p:nvPr/>
        </p:nvSpPr>
        <p:spPr>
          <a:xfrm>
            <a:off x="3281030" y="3673602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$670K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3742400" y="3673602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2556021" y="4082796"/>
            <a:ext cx="1647749" cy="409194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69" name="Text 65"/>
          <p:cNvSpPr/>
          <p:nvPr/>
        </p:nvSpPr>
        <p:spPr>
          <a:xfrm>
            <a:off x="2556021" y="4082796"/>
            <a:ext cx="725009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50" dirty="0"/>
          </a:p>
        </p:txBody>
      </p:sp>
      <p:sp>
        <p:nvSpPr>
          <p:cNvPr id="70" name="Text 66"/>
          <p:cNvSpPr/>
          <p:nvPr/>
        </p:nvSpPr>
        <p:spPr>
          <a:xfrm>
            <a:off x="3281030" y="4082796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$501K</a:t>
            </a:r>
            <a:endParaRPr lang="en-US" sz="750" dirty="0"/>
          </a:p>
        </p:txBody>
      </p:sp>
      <p:sp>
        <p:nvSpPr>
          <p:cNvPr id="71" name="Text 67"/>
          <p:cNvSpPr/>
          <p:nvPr/>
        </p:nvSpPr>
        <p:spPr>
          <a:xfrm>
            <a:off x="3742400" y="4082796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72" name="Shape 68"/>
          <p:cNvSpPr/>
          <p:nvPr/>
        </p:nvSpPr>
        <p:spPr>
          <a:xfrm>
            <a:off x="2556021" y="4491990"/>
            <a:ext cx="1647749" cy="409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69"/>
          <p:cNvSpPr/>
          <p:nvPr/>
        </p:nvSpPr>
        <p:spPr>
          <a:xfrm>
            <a:off x="2556021" y="4491990"/>
            <a:ext cx="725009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750" dirty="0"/>
          </a:p>
        </p:txBody>
      </p:sp>
      <p:sp>
        <p:nvSpPr>
          <p:cNvPr id="74" name="Text 70"/>
          <p:cNvSpPr/>
          <p:nvPr/>
        </p:nvSpPr>
        <p:spPr>
          <a:xfrm>
            <a:off x="3281030" y="4491990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$401K</a:t>
            </a:r>
            <a:endParaRPr lang="en-US" sz="750" dirty="0"/>
          </a:p>
        </p:txBody>
      </p:sp>
      <p:sp>
        <p:nvSpPr>
          <p:cNvPr id="75" name="Text 71"/>
          <p:cNvSpPr/>
          <p:nvPr/>
        </p:nvSpPr>
        <p:spPr>
          <a:xfrm>
            <a:off x="3742400" y="4491990"/>
            <a:ext cx="46137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4820502" y="2761488"/>
            <a:ext cx="1720901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4820502" y="2761485"/>
            <a:ext cx="1720901" cy="274320"/>
          </a:xfrm>
          <a:prstGeom prst="rect">
            <a:avLst/>
          </a:prstGeom>
          <a:solidFill>
            <a:srgbClr val="1A7A5E"/>
          </a:solidFill>
          <a:ln/>
        </p:spPr>
      </p:sp>
      <p:sp>
        <p:nvSpPr>
          <p:cNvPr id="78" name="Text 74"/>
          <p:cNvSpPr/>
          <p:nvPr/>
        </p:nvSpPr>
        <p:spPr>
          <a:xfrm>
            <a:off x="4847934" y="2761485"/>
            <a:ext cx="1666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4857078" y="3035805"/>
            <a:ext cx="725009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80" name="Text 76"/>
          <p:cNvSpPr/>
          <p:nvPr/>
        </p:nvSpPr>
        <p:spPr>
          <a:xfrm>
            <a:off x="4857078" y="3035805"/>
            <a:ext cx="7250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700" dirty="0"/>
          </a:p>
        </p:txBody>
      </p:sp>
      <p:sp>
        <p:nvSpPr>
          <p:cNvPr id="81" name="Shape 77"/>
          <p:cNvSpPr/>
          <p:nvPr/>
        </p:nvSpPr>
        <p:spPr>
          <a:xfrm>
            <a:off x="5582086" y="3035808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82" name="Text 78"/>
          <p:cNvSpPr/>
          <p:nvPr/>
        </p:nvSpPr>
        <p:spPr>
          <a:xfrm>
            <a:off x="5582087" y="3035805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6043457" y="3035805"/>
            <a:ext cx="46137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84" name="Text 80"/>
          <p:cNvSpPr/>
          <p:nvPr/>
        </p:nvSpPr>
        <p:spPr>
          <a:xfrm>
            <a:off x="6043457" y="3035805"/>
            <a:ext cx="461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700" dirty="0"/>
          </a:p>
        </p:txBody>
      </p:sp>
      <p:sp>
        <p:nvSpPr>
          <p:cNvPr id="85" name="Shape 81"/>
          <p:cNvSpPr/>
          <p:nvPr/>
        </p:nvSpPr>
        <p:spPr>
          <a:xfrm>
            <a:off x="4857078" y="3264405"/>
            <a:ext cx="1647749" cy="545592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86" name="Text 82"/>
          <p:cNvSpPr/>
          <p:nvPr/>
        </p:nvSpPr>
        <p:spPr>
          <a:xfrm>
            <a:off x="4857078" y="3264405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750" dirty="0"/>
          </a:p>
        </p:txBody>
      </p:sp>
      <p:sp>
        <p:nvSpPr>
          <p:cNvPr id="87" name="Text 83"/>
          <p:cNvSpPr/>
          <p:nvPr/>
        </p:nvSpPr>
        <p:spPr>
          <a:xfrm>
            <a:off x="5582087" y="3264405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$1.16M</a:t>
            </a:r>
            <a:endParaRPr lang="en-US" sz="750" dirty="0"/>
          </a:p>
        </p:txBody>
      </p:sp>
      <p:sp>
        <p:nvSpPr>
          <p:cNvPr id="88" name="Text 84"/>
          <p:cNvSpPr/>
          <p:nvPr/>
        </p:nvSpPr>
        <p:spPr>
          <a:xfrm>
            <a:off x="6043457" y="3264405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750" dirty="0"/>
          </a:p>
        </p:txBody>
      </p:sp>
      <p:sp>
        <p:nvSpPr>
          <p:cNvPr id="89" name="Shape 85"/>
          <p:cNvSpPr/>
          <p:nvPr/>
        </p:nvSpPr>
        <p:spPr>
          <a:xfrm>
            <a:off x="4857078" y="3809997"/>
            <a:ext cx="1647749" cy="545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6"/>
          <p:cNvSpPr/>
          <p:nvPr/>
        </p:nvSpPr>
        <p:spPr>
          <a:xfrm>
            <a:off x="4857078" y="3809997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750" dirty="0"/>
          </a:p>
        </p:txBody>
      </p:sp>
      <p:sp>
        <p:nvSpPr>
          <p:cNvPr id="91" name="Text 87"/>
          <p:cNvSpPr/>
          <p:nvPr/>
        </p:nvSpPr>
        <p:spPr>
          <a:xfrm>
            <a:off x="5582087" y="3809997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$706K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6043457" y="3809997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750" dirty="0"/>
          </a:p>
        </p:txBody>
      </p:sp>
      <p:sp>
        <p:nvSpPr>
          <p:cNvPr id="93" name="Shape 89"/>
          <p:cNvSpPr/>
          <p:nvPr/>
        </p:nvSpPr>
        <p:spPr>
          <a:xfrm>
            <a:off x="4857078" y="4355589"/>
            <a:ext cx="1647749" cy="545592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94" name="Text 90"/>
          <p:cNvSpPr/>
          <p:nvPr/>
        </p:nvSpPr>
        <p:spPr>
          <a:xfrm>
            <a:off x="4857078" y="4355589"/>
            <a:ext cx="725009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Off.</a:t>
            </a:r>
            <a:endParaRPr lang="en-US" sz="750" dirty="0"/>
          </a:p>
        </p:txBody>
      </p:sp>
      <p:sp>
        <p:nvSpPr>
          <p:cNvPr id="95" name="Text 91"/>
          <p:cNvSpPr/>
          <p:nvPr/>
        </p:nvSpPr>
        <p:spPr>
          <a:xfrm>
            <a:off x="5582087" y="4355589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$430K</a:t>
            </a:r>
            <a:endParaRPr lang="en-US" sz="750" dirty="0"/>
          </a:p>
        </p:txBody>
      </p:sp>
      <p:sp>
        <p:nvSpPr>
          <p:cNvPr id="96" name="Text 92"/>
          <p:cNvSpPr/>
          <p:nvPr/>
        </p:nvSpPr>
        <p:spPr>
          <a:xfrm>
            <a:off x="6043457" y="4355589"/>
            <a:ext cx="461370" cy="54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750" dirty="0"/>
          </a:p>
        </p:txBody>
      </p:sp>
      <p:sp>
        <p:nvSpPr>
          <p:cNvPr id="122" name="Shape 118"/>
          <p:cNvSpPr/>
          <p:nvPr/>
        </p:nvSpPr>
        <p:spPr>
          <a:xfrm>
            <a:off x="7263079" y="2761488"/>
            <a:ext cx="1720901" cy="21762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3" name="Shape 119"/>
          <p:cNvSpPr/>
          <p:nvPr/>
        </p:nvSpPr>
        <p:spPr>
          <a:xfrm>
            <a:off x="7263079" y="2761488"/>
            <a:ext cx="1720901" cy="274320"/>
          </a:xfrm>
          <a:prstGeom prst="rect">
            <a:avLst/>
          </a:prstGeom>
          <a:solidFill>
            <a:srgbClr val="8A3A2E"/>
          </a:solidFill>
          <a:ln/>
        </p:spPr>
      </p:sp>
      <p:sp>
        <p:nvSpPr>
          <p:cNvPr id="124" name="Text 120"/>
          <p:cNvSpPr/>
          <p:nvPr/>
        </p:nvSpPr>
        <p:spPr>
          <a:xfrm>
            <a:off x="7290511" y="2761488"/>
            <a:ext cx="1666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850" dirty="0"/>
          </a:p>
        </p:txBody>
      </p:sp>
      <p:sp>
        <p:nvSpPr>
          <p:cNvPr id="125" name="Shape 121"/>
          <p:cNvSpPr/>
          <p:nvPr/>
        </p:nvSpPr>
        <p:spPr>
          <a:xfrm>
            <a:off x="7299655" y="3035808"/>
            <a:ext cx="955694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26" name="Text 122"/>
          <p:cNvSpPr/>
          <p:nvPr/>
        </p:nvSpPr>
        <p:spPr>
          <a:xfrm>
            <a:off x="7299655" y="3035808"/>
            <a:ext cx="9556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00" dirty="0"/>
          </a:p>
        </p:txBody>
      </p:sp>
      <p:sp>
        <p:nvSpPr>
          <p:cNvPr id="127" name="Shape 123"/>
          <p:cNvSpPr/>
          <p:nvPr/>
        </p:nvSpPr>
        <p:spPr>
          <a:xfrm>
            <a:off x="8255350" y="3035808"/>
            <a:ext cx="692054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28" name="Text 124"/>
          <p:cNvSpPr/>
          <p:nvPr/>
        </p:nvSpPr>
        <p:spPr>
          <a:xfrm>
            <a:off x="8255350" y="3035808"/>
            <a:ext cx="6920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00" dirty="0"/>
          </a:p>
        </p:txBody>
      </p:sp>
      <p:sp>
        <p:nvSpPr>
          <p:cNvPr id="129" name="Shape 125"/>
          <p:cNvSpPr/>
          <p:nvPr/>
        </p:nvSpPr>
        <p:spPr>
          <a:xfrm>
            <a:off x="7299655" y="3264408"/>
            <a:ext cx="1647749" cy="272796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130" name="Text 126"/>
          <p:cNvSpPr/>
          <p:nvPr/>
        </p:nvSpPr>
        <p:spPr>
          <a:xfrm>
            <a:off x="7299655" y="3264408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255350" y="3264408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32" name="Shape 128"/>
          <p:cNvSpPr/>
          <p:nvPr/>
        </p:nvSpPr>
        <p:spPr>
          <a:xfrm>
            <a:off x="7299655" y="3537204"/>
            <a:ext cx="1647749" cy="2727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29"/>
          <p:cNvSpPr/>
          <p:nvPr/>
        </p:nvSpPr>
        <p:spPr>
          <a:xfrm>
            <a:off x="7299655" y="3537204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Rows</a:t>
            </a:r>
            <a:endParaRPr lang="en-US" sz="750" dirty="0"/>
          </a:p>
        </p:txBody>
      </p:sp>
      <p:sp>
        <p:nvSpPr>
          <p:cNvPr id="134" name="Text 130"/>
          <p:cNvSpPr/>
          <p:nvPr/>
        </p:nvSpPr>
        <p:spPr>
          <a:xfrm>
            <a:off x="8255350" y="3537204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750" dirty="0"/>
          </a:p>
        </p:txBody>
      </p:sp>
      <p:sp>
        <p:nvSpPr>
          <p:cNvPr id="135" name="Shape 131"/>
          <p:cNvSpPr/>
          <p:nvPr/>
        </p:nvSpPr>
        <p:spPr>
          <a:xfrm>
            <a:off x="7299655" y="3810000"/>
            <a:ext cx="1647749" cy="272796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136" name="Text 132"/>
          <p:cNvSpPr/>
          <p:nvPr/>
        </p:nvSpPr>
        <p:spPr>
          <a:xfrm>
            <a:off x="7299655" y="3810000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750" dirty="0"/>
          </a:p>
        </p:txBody>
      </p:sp>
      <p:sp>
        <p:nvSpPr>
          <p:cNvPr id="137" name="Text 133"/>
          <p:cNvSpPr/>
          <p:nvPr/>
        </p:nvSpPr>
        <p:spPr>
          <a:xfrm>
            <a:off x="8255350" y="3810000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138" name="Shape 134"/>
          <p:cNvSpPr/>
          <p:nvPr/>
        </p:nvSpPr>
        <p:spPr>
          <a:xfrm>
            <a:off x="7299655" y="4082796"/>
            <a:ext cx="1647749" cy="2727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5"/>
          <p:cNvSpPr/>
          <p:nvPr/>
        </p:nvSpPr>
        <p:spPr>
          <a:xfrm>
            <a:off x="7299655" y="4082796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40" name="Text 136"/>
          <p:cNvSpPr/>
          <p:nvPr/>
        </p:nvSpPr>
        <p:spPr>
          <a:xfrm>
            <a:off x="8255350" y="4082796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750" dirty="0"/>
          </a:p>
        </p:txBody>
      </p:sp>
      <p:sp>
        <p:nvSpPr>
          <p:cNvPr id="141" name="Shape 137"/>
          <p:cNvSpPr/>
          <p:nvPr/>
        </p:nvSpPr>
        <p:spPr>
          <a:xfrm>
            <a:off x="7299655" y="4355592"/>
            <a:ext cx="1647749" cy="272796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142" name="Text 138"/>
          <p:cNvSpPr/>
          <p:nvPr/>
        </p:nvSpPr>
        <p:spPr>
          <a:xfrm>
            <a:off x="7299655" y="4355592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50" dirty="0"/>
          </a:p>
        </p:txBody>
      </p:sp>
      <p:sp>
        <p:nvSpPr>
          <p:cNvPr id="143" name="Text 139"/>
          <p:cNvSpPr/>
          <p:nvPr/>
        </p:nvSpPr>
        <p:spPr>
          <a:xfrm>
            <a:off x="8255350" y="4355592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1,862</a:t>
            </a:r>
            <a:endParaRPr lang="en-US" sz="750" dirty="0"/>
          </a:p>
        </p:txBody>
      </p:sp>
      <p:sp>
        <p:nvSpPr>
          <p:cNvPr id="144" name="Shape 140"/>
          <p:cNvSpPr/>
          <p:nvPr/>
        </p:nvSpPr>
        <p:spPr>
          <a:xfrm>
            <a:off x="7299655" y="4628388"/>
            <a:ext cx="1647749" cy="2727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1"/>
          <p:cNvSpPr/>
          <p:nvPr/>
        </p:nvSpPr>
        <p:spPr>
          <a:xfrm>
            <a:off x="7299655" y="4628388"/>
            <a:ext cx="95569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</a:t>
            </a:r>
            <a:endParaRPr lang="en-US" sz="750" dirty="0"/>
          </a:p>
        </p:txBody>
      </p:sp>
      <p:sp>
        <p:nvSpPr>
          <p:cNvPr id="146" name="Text 142"/>
          <p:cNvSpPr/>
          <p:nvPr/>
        </p:nvSpPr>
        <p:spPr>
          <a:xfrm>
            <a:off x="8255350" y="4628388"/>
            <a:ext cx="692054" cy="272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750" dirty="0"/>
          </a:p>
        </p:txBody>
      </p:sp>
      <p:sp>
        <p:nvSpPr>
          <p:cNvPr id="147" name="Shape 143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8" name="Text 144"/>
          <p:cNvSpPr/>
          <p:nvPr/>
        </p:nvSpPr>
        <p:spPr>
          <a:xfrm>
            <a:off x="182880" y="496519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4 years (2020–2023)  |  5 relational tables  |  Total Sales: $2.30M  |  Top Region: West  |  Top Category: Technology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Problem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1. Business Problem</a:t>
            </a:r>
          </a:p>
        </p:txBody>
      </p:sp>
      <p:sp>
        <p:nvSpPr>
          <p:cNvPr id="10" name="Text 10"/>
          <p:cNvSpPr/>
          <p:nvPr/>
        </p:nvSpPr>
        <p:spPr>
          <a:xfrm>
            <a:off x="274320" y="685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</a:rPr>
              <a:t>The Challenge</a:t>
            </a:r>
          </a:p>
        </p:txBody>
      </p:sp>
      <p:sp>
        <p:nvSpPr>
          <p:cNvPr id="11" name="Text 11"/>
          <p:cNvSpPr/>
          <p:nvPr/>
        </p:nvSpPr>
        <p:spPr>
          <a:xfrm>
            <a:off x="274320" y="1280160"/>
            <a:ext cx="8595360" cy="368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</a:rPr>
              <a:t>The company faces challenges in monitoring sales performance across multiple dimensions.</a:t>
            </a:r>
          </a:p>
          <a:p>
            <a:pPr marL="0" indent="0">
              <a:buNone/>
            </a:pPr>
            <a:endParaRPr lang="en-US" sz="1400" dirty="0">
              <a:solidFill>
                <a:srgbClr val="595959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</a:rPr>
              <a:t>Key Pain Points:</a:t>
            </a:r>
          </a:p>
          <a:p>
            <a:pPr marL="0" indent="0">
              <a:buNone/>
            </a:pPr>
            <a:endParaRPr lang="en-US" sz="1500" b="1" dirty="0">
              <a:solidFill>
                <a:srgbClr val="1B6CA8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</a:rPr>
              <a:t>  •  Difficulty monitoring sales performance and profitability in real time.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</a:rPr>
              <a:t>  •  Lack of visibility into customer purchasing behavior and patterns.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</a:rPr>
              <a:t>  •  No centralized view of product contribution across categories.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</a:rPr>
              <a:t>  •  Geographic performance gaps across regions remain unidentified.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</a:rPr>
              <a:t>  •  Year-over-year growth trends difficult to track without integrated data.</a:t>
            </a:r>
          </a:p>
          <a:p>
            <a:pPr marL="0" indent="0">
              <a:buNone/>
            </a:pPr>
            <a:endParaRPr lang="en-US" sz="1350" dirty="0">
              <a:solidFill>
                <a:srgbClr val="595959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</a:rPr>
              <a:t>Management requires a centralized analytical solution to identify high-performing products,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</a:rPr>
              <a:t>profitable customers, regional opportunities, and year-over-year growth trends.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55526A4-4307-2BC3-67D1-12F62F72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FF86FD6-853C-864A-C682-C58508A83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Objectives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2. Dashboard Objectives</a:t>
            </a:r>
          </a:p>
        </p:txBody>
      </p:sp>
      <p:sp>
        <p:nvSpPr>
          <p:cNvPr id="20" name="Card 20"/>
          <p:cNvSpPr/>
          <p:nvPr/>
        </p:nvSpPr>
        <p:spPr>
          <a:xfrm>
            <a:off x="274320" y="731520"/>
            <a:ext cx="2011680" cy="164592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21" name="Text 21"/>
          <p:cNvSpPr/>
          <p:nvPr/>
        </p:nvSpPr>
        <p:spPr>
          <a:xfrm>
            <a:off x="3657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</a:rPr>
              <a:t>Track Performance</a:t>
            </a:r>
          </a:p>
        </p:txBody>
      </p:sp>
      <p:sp>
        <p:nvSpPr>
          <p:cNvPr id="22" name="Text 22"/>
          <p:cNvSpPr/>
          <p:nvPr/>
        </p:nvSpPr>
        <p:spPr>
          <a:xfrm>
            <a:off x="365760" y="1188720"/>
            <a:ext cx="1828800" cy="10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Monitor Sales, Profit, Orders and Margin KPIs in real time.</a:t>
            </a:r>
          </a:p>
        </p:txBody>
      </p:sp>
      <p:sp>
        <p:nvSpPr>
          <p:cNvPr id="23" name="Card 23"/>
          <p:cNvSpPr/>
          <p:nvPr/>
        </p:nvSpPr>
        <p:spPr>
          <a:xfrm>
            <a:off x="2468880" y="731520"/>
            <a:ext cx="2011680" cy="1645920"/>
          </a:xfrm>
          <a:prstGeom prst="roundRect">
            <a:avLst>
              <a:gd name="adj" fmla="val 16667"/>
            </a:avLst>
          </a:prstGeom>
          <a:solidFill>
            <a:srgbClr val="EBF5EB"/>
          </a:solidFill>
          <a:ln w="12700">
            <a:solidFill>
              <a:srgbClr val="A5D6A7"/>
            </a:solidFill>
          </a:ln>
        </p:spPr>
      </p:sp>
      <p:sp>
        <p:nvSpPr>
          <p:cNvPr id="24" name="Text 24"/>
          <p:cNvSpPr/>
          <p:nvPr/>
        </p:nvSpPr>
        <p:spPr>
          <a:xfrm>
            <a:off x="256032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</a:rPr>
              <a:t>Year Comparison</a:t>
            </a:r>
          </a:p>
        </p:txBody>
      </p:sp>
      <p:sp>
        <p:nvSpPr>
          <p:cNvPr id="25" name="Text 25"/>
          <p:cNvSpPr/>
          <p:nvPr/>
        </p:nvSpPr>
        <p:spPr>
          <a:xfrm>
            <a:off x="2560320" y="1188720"/>
            <a:ext cx="1828800" cy="10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Compare performance metrics across fiscal years.</a:t>
            </a:r>
          </a:p>
        </p:txBody>
      </p:sp>
      <p:sp>
        <p:nvSpPr>
          <p:cNvPr id="26" name="Card 26"/>
          <p:cNvSpPr/>
          <p:nvPr/>
        </p:nvSpPr>
        <p:spPr>
          <a:xfrm>
            <a:off x="4663440" y="731520"/>
            <a:ext cx="2011680" cy="164592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</p:sp>
      <p:sp>
        <p:nvSpPr>
          <p:cNvPr id="27" name="Text 27"/>
          <p:cNvSpPr/>
          <p:nvPr/>
        </p:nvSpPr>
        <p:spPr>
          <a:xfrm>
            <a:off x="475488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</a:rPr>
              <a:t>Product Analysis</a:t>
            </a:r>
          </a:p>
        </p:txBody>
      </p:sp>
      <p:sp>
        <p:nvSpPr>
          <p:cNvPr id="28" name="Text 28"/>
          <p:cNvSpPr/>
          <p:nvPr/>
        </p:nvSpPr>
        <p:spPr>
          <a:xfrm>
            <a:off x="4754880" y="1188720"/>
            <a:ext cx="1828800" cy="10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Identify best-performing product categories and customers.</a:t>
            </a:r>
          </a:p>
        </p:txBody>
      </p:sp>
      <p:sp>
        <p:nvSpPr>
          <p:cNvPr id="29" name="Card 29"/>
          <p:cNvSpPr/>
          <p:nvPr/>
        </p:nvSpPr>
        <p:spPr>
          <a:xfrm>
            <a:off x="6858000" y="731520"/>
            <a:ext cx="2011680" cy="1645920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 w="12700">
            <a:solidFill>
              <a:srgbClr val="F48FB1"/>
            </a:solidFill>
          </a:ln>
        </p:spPr>
      </p:sp>
      <p:sp>
        <p:nvSpPr>
          <p:cNvPr id="30" name="Text 30"/>
          <p:cNvSpPr/>
          <p:nvPr/>
        </p:nvSpPr>
        <p:spPr>
          <a:xfrm>
            <a:off x="694944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</a:rPr>
              <a:t>Geographic Insights</a:t>
            </a:r>
          </a:p>
        </p:txBody>
      </p:sp>
      <p:sp>
        <p:nvSpPr>
          <p:cNvPr id="31" name="Text 31"/>
          <p:cNvSpPr/>
          <p:nvPr/>
        </p:nvSpPr>
        <p:spPr>
          <a:xfrm>
            <a:off x="6949440" y="1188720"/>
            <a:ext cx="1828800" cy="10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Analyze regional and geographic sales distribution across the US.</a:t>
            </a:r>
          </a:p>
        </p:txBody>
      </p:sp>
      <p:sp>
        <p:nvSpPr>
          <p:cNvPr id="100" name="Text 100"/>
          <p:cNvSpPr/>
          <p:nvPr/>
        </p:nvSpPr>
        <p:spPr>
          <a:xfrm>
            <a:off x="274320" y="2560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</a:rPr>
              <a:t>These objectives guide the Power BI dashboard design and data model architecture.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F852D21-1AD6-834A-E0FD-DDDC609A0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1653A9D-567C-8F11-D266-D063F66F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Explanations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3. Dashboard Screenshots &amp; Explanations</a:t>
            </a:r>
          </a:p>
        </p:txBody>
      </p:sp>
      <p:sp>
        <p:nvSpPr>
          <p:cNvPr id="30" name="Card 30"/>
          <p:cNvSpPr/>
          <p:nvPr/>
        </p:nvSpPr>
        <p:spPr>
          <a:xfrm>
            <a:off x="274320" y="68580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31" name="Text 31"/>
          <p:cNvSpPr/>
          <p:nvPr/>
        </p:nvSpPr>
        <p:spPr>
          <a:xfrm>
            <a:off x="274320" y="777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Executive Summary</a:t>
            </a:r>
          </a:p>
        </p:txBody>
      </p:sp>
      <p:sp>
        <p:nvSpPr>
          <p:cNvPr id="32" name="Text 32"/>
          <p:cNvSpPr/>
          <p:nvPr/>
        </p:nvSpPr>
        <p:spPr>
          <a:xfrm>
            <a:off x="2743200" y="7315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High-level KPIs: Total Sales, Profit, Orders, Margin %. Yearly/monthly trends, category distribution, and order analysis. Enables quick performance monitoring vs targets.</a:t>
            </a:r>
          </a:p>
        </p:txBody>
      </p:sp>
      <p:sp>
        <p:nvSpPr>
          <p:cNvPr id="33" name="Card 33"/>
          <p:cNvSpPr/>
          <p:nvPr/>
        </p:nvSpPr>
        <p:spPr>
          <a:xfrm>
            <a:off x="274320" y="152184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34" name="Text 34"/>
          <p:cNvSpPr/>
          <p:nvPr/>
        </p:nvSpPr>
        <p:spPr>
          <a:xfrm>
            <a:off x="274320" y="161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Product Analysis</a:t>
            </a:r>
          </a:p>
        </p:txBody>
      </p:sp>
      <p:sp>
        <p:nvSpPr>
          <p:cNvPr id="35" name="Text 35"/>
          <p:cNvSpPr/>
          <p:nvPr/>
        </p:nvSpPr>
        <p:spPr>
          <a:xfrm>
            <a:off x="2743200" y="15675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Analyzes performance by category and sub-category. Top 10 Sub-Categories (Phones, Chairs), scatter plots for Sales vs Profit, treemaps for category contribution, decomposition tree by region.</a:t>
            </a:r>
          </a:p>
        </p:txBody>
      </p:sp>
      <p:sp>
        <p:nvSpPr>
          <p:cNvPr id="36" name="Card 36"/>
          <p:cNvSpPr/>
          <p:nvPr/>
        </p:nvSpPr>
        <p:spPr>
          <a:xfrm>
            <a:off x="274320" y="235788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37" name="Text 37"/>
          <p:cNvSpPr/>
          <p:nvPr/>
        </p:nvSpPr>
        <p:spPr>
          <a:xfrm>
            <a:off x="274320" y="2449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Customer Analysis</a:t>
            </a:r>
          </a:p>
        </p:txBody>
      </p:sp>
      <p:sp>
        <p:nvSpPr>
          <p:cNvPr id="38" name="Text 38"/>
          <p:cNvSpPr/>
          <p:nvPr/>
        </p:nvSpPr>
        <p:spPr>
          <a:xfrm>
            <a:off x="2743200" y="24036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Evaluates customer behavior and profitability. Segment comparison: Consumer, Corporate, Home Office. Ship mode analysis and top-customer ranking tables by sales and profitability.</a:t>
            </a:r>
          </a:p>
        </p:txBody>
      </p:sp>
      <p:sp>
        <p:nvSpPr>
          <p:cNvPr id="39" name="Card 39"/>
          <p:cNvSpPr/>
          <p:nvPr/>
        </p:nvSpPr>
        <p:spPr>
          <a:xfrm>
            <a:off x="274320" y="319392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40" name="Text 40"/>
          <p:cNvSpPr/>
          <p:nvPr/>
        </p:nvSpPr>
        <p:spPr>
          <a:xfrm>
            <a:off x="274320" y="3285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Geographic Analysis</a:t>
            </a:r>
          </a:p>
        </p:txBody>
      </p:sp>
      <p:sp>
        <p:nvSpPr>
          <p:cNvPr id="41" name="Text 41"/>
          <p:cNvSpPr/>
          <p:nvPr/>
        </p:nvSpPr>
        <p:spPr>
          <a:xfrm>
            <a:off x="2743200" y="32396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Regional performance across the US. West and East regions lead in sales. Map visualization identifies state-level performance gaps and expansion opportunities.</a:t>
            </a:r>
          </a:p>
        </p:txBody>
      </p:sp>
      <p:sp>
        <p:nvSpPr>
          <p:cNvPr id="42" name="Card 42"/>
          <p:cNvSpPr/>
          <p:nvPr/>
        </p:nvSpPr>
        <p:spPr>
          <a:xfrm>
            <a:off x="274320" y="402996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43" name="Text 43"/>
          <p:cNvSpPr/>
          <p:nvPr/>
        </p:nvSpPr>
        <p:spPr>
          <a:xfrm>
            <a:off x="274320" y="4121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Data Model</a:t>
            </a:r>
          </a:p>
        </p:txBody>
      </p:sp>
      <p:sp>
        <p:nvSpPr>
          <p:cNvPr id="44" name="Text 44"/>
          <p:cNvSpPr/>
          <p:nvPr/>
        </p:nvSpPr>
        <p:spPr>
          <a:xfrm>
            <a:off x="2743200" y="40756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Star Schema design: Orders (Fact Table) connected to Date, Products, Customers, and Location dimension tables via one-to-many relationships for efficient filtering.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308BB2-988B-EE1F-7CB4-E3AB605FB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063CF6F-9123-CAAC-B4E9-0897F55DDC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1C38515-EEBE-D82A-8CA1-AF734360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Executive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132912-9113-0874-FBFA-2E7506B1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29020"/>
            <a:ext cx="86517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This dashboard provides high-level KPIs such as Total Sales, Total Profit, Total Orders, and Profit Margin %. It includes yearly trend analysis, monthly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trends, category sales distribution, and order analysis. Decision makers can quickly monitor performance and compare outcomes against targets.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98271-0E41-5557-B3B8-C2B191CC7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864"/>
            <a:ext cx="6089515" cy="341230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E268344-F979-FB7D-81A5-108201804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62E7867-CD49-5096-56F0-4933F96E4E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3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315B80-D705-5645-D2FE-6C47AE5F2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Product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3">
            <a:extLst>
              <a:ext uri="{FF2B5EF4-FFF2-40B4-BE49-F238E27FC236}">
                <a16:creationId xmlns:a16="http://schemas.microsoft.com/office/drawing/2014/main" id="{E35C746C-AF3C-C5D4-1898-BCE8977E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54959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148D253-97F6-080F-A306-845767992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81370"/>
            <a:ext cx="90588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This page analyzes product performance by category and sub-category. The Top 10 Sub-Categories chart highlights best-selling items such as Phones and Chairs.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Scatter plots compare sales vs profit margin while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treemaps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visualize category contribution. The decomposition tree helps drill down sales by category and region.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801F237-07DA-1649-FD85-379F4267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DE34E66-36C0-9BA5-4F47-A647E478F4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5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ABB106A-89A4-3E0C-51A4-5E879EB77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Customer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127DE8D1-7905-CF28-F350-725631C86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5648325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14A5343-781F-C20A-B489-DDF27D11A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9676"/>
            <a:ext cx="543610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This page evaluates customer behavior and profitability. Segment analysis compares Consumer,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Corporate, and Home Office customers. Ship mode analysis helps identify logistics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Ranking tables identify top customers by sales contribution and profitability.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D1047AC-E7FD-ED79-E269-707793477A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85D7A6C-5223-0E98-3907-8BCB3C40AD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1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31BAA82-99A6-6B38-E2AB-04EF5820E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Geographic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Picture 2">
            <a:extLst>
              <a:ext uri="{FF2B5EF4-FFF2-40B4-BE49-F238E27FC236}">
                <a16:creationId xmlns:a16="http://schemas.microsoft.com/office/drawing/2014/main" id="{9D846CD1-FFAB-9083-1688-F08F7D73B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5495925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B3F058B0-6F05-956F-396E-ECACD2B70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1845"/>
            <a:ext cx="78277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This dashboard evaluates regional performance across the United States.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West and East regions contribute the highest sales. The geographic map helps identify state-level performance and expansion opportunities.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159D315-9B50-1741-196B-7B76CC9CB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9A1798F-3A14-6193-9F03-AAB68AE6B2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6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E05243-09CC-D885-9343-057239C77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072"/>
            <a:ext cx="9144000" cy="4162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8D432-64EF-A49B-A26A-F14C930968FB}"/>
              </a:ext>
            </a:extLst>
          </p:cNvPr>
          <p:cNvSpPr txBox="1"/>
          <p:nvPr/>
        </p:nvSpPr>
        <p:spPr>
          <a:xfrm>
            <a:off x="0" y="96341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64ED5-871D-30BF-DA00-EF10034E1FB6}"/>
              </a:ext>
            </a:extLst>
          </p:cNvPr>
          <p:cNvSpPr txBox="1"/>
          <p:nvPr/>
        </p:nvSpPr>
        <p:spPr>
          <a:xfrm>
            <a:off x="0" y="4800938"/>
            <a:ext cx="46465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Data Table used to compare sales , Orders from previous years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0E4E3C6-BFC3-3403-42EB-1D35D9981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4045" y="13716"/>
            <a:ext cx="566928" cy="566928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1E8B71F5-6037-B235-896F-B1C907502F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42568" y="12581"/>
            <a:ext cx="118872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5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Relationships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4. Data Relationships — Star Schema</a:t>
            </a:r>
          </a:p>
        </p:txBody>
      </p:sp>
      <p:sp>
        <p:nvSpPr>
          <p:cNvPr id="10" name="T10"/>
          <p:cNvSpPr/>
          <p:nvPr/>
        </p:nvSpPr>
        <p:spPr>
          <a:xfrm>
            <a:off x="274320" y="640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Star Schema: Orders (Fact Table) connects to 4 dimension tables via one-to-many relationships.</a:t>
            </a:r>
          </a:p>
        </p:txBody>
      </p:sp>
      <p:sp>
        <p:nvSpPr>
          <p:cNvPr id="20" name="C20"/>
          <p:cNvSpPr/>
          <p:nvPr/>
        </p:nvSpPr>
        <p:spPr>
          <a:xfrm>
            <a:off x="3657600" y="13716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21" name="T21"/>
          <p:cNvSpPr/>
          <p:nvPr/>
        </p:nvSpPr>
        <p:spPr>
          <a:xfrm>
            <a:off x="36576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Orders (Fact Table)</a:t>
            </a:r>
          </a:p>
        </p:txBody>
      </p:sp>
      <p:sp>
        <p:nvSpPr>
          <p:cNvPr id="30" name="C30"/>
          <p:cNvSpPr/>
          <p:nvPr/>
        </p:nvSpPr>
        <p:spPr>
          <a:xfrm>
            <a:off x="548640" y="1005840"/>
            <a:ext cx="1737360" cy="4572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31" name="T31"/>
          <p:cNvSpPr/>
          <p:nvPr/>
        </p:nvSpPr>
        <p:spPr>
          <a:xfrm>
            <a:off x="54864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</a:rPr>
              <a:t>Date Table</a:t>
            </a:r>
          </a:p>
        </p:txBody>
      </p:sp>
      <p:sp>
        <p:nvSpPr>
          <p:cNvPr id="32" name="C32"/>
          <p:cNvSpPr/>
          <p:nvPr/>
        </p:nvSpPr>
        <p:spPr>
          <a:xfrm>
            <a:off x="548640" y="2377440"/>
            <a:ext cx="1737360" cy="4572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33" name="T33"/>
          <p:cNvSpPr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</a:rPr>
              <a:t>Products</a:t>
            </a:r>
          </a:p>
        </p:txBody>
      </p:sp>
      <p:sp>
        <p:nvSpPr>
          <p:cNvPr id="34" name="C34"/>
          <p:cNvSpPr/>
          <p:nvPr/>
        </p:nvSpPr>
        <p:spPr>
          <a:xfrm>
            <a:off x="6857880" y="1005840"/>
            <a:ext cx="1737360" cy="4572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35" name="T35"/>
          <p:cNvSpPr/>
          <p:nvPr/>
        </p:nvSpPr>
        <p:spPr>
          <a:xfrm>
            <a:off x="685788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</a:rPr>
              <a:t>Customers</a:t>
            </a:r>
          </a:p>
        </p:txBody>
      </p:sp>
      <p:sp>
        <p:nvSpPr>
          <p:cNvPr id="36" name="C36"/>
          <p:cNvSpPr/>
          <p:nvPr/>
        </p:nvSpPr>
        <p:spPr>
          <a:xfrm>
            <a:off x="6857880" y="2377440"/>
            <a:ext cx="1737360" cy="4572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37" name="T37"/>
          <p:cNvSpPr/>
          <p:nvPr/>
        </p:nvSpPr>
        <p:spPr>
          <a:xfrm>
            <a:off x="685788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</a:rPr>
              <a:t>Location</a:t>
            </a:r>
          </a:p>
        </p:txBody>
      </p:sp>
      <p:sp>
        <p:nvSpPr>
          <p:cNvPr id="50" name="T50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6CA8"/>
                </a:solidFill>
                <a:latin typeface="Calibri" pitchFamily="34" charset="0"/>
              </a:rPr>
              <a:t>Relationship Type:  One-to-Many (1:*) from Fact to each Dimension table</a:t>
            </a:r>
          </a:p>
          <a:p>
            <a:pPr marL="0" indent="0">
              <a:buNone/>
            </a:pPr>
            <a:endParaRPr lang="en-US" sz="1350" b="1" dirty="0">
              <a:solidFill>
                <a:srgbClr val="1B6CA8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</a:rPr>
              <a:t>  •  Orders → Date Table   (via Order Date)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</a:rPr>
              <a:t>  •  Orders → Products   (via Product ID)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</a:rPr>
              <a:t>  •  Orders → Customers   (via Customer ID)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</a:rPr>
              <a:t>  •  Orders → Location   (via Postal Code)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DB1E86-F884-BBDE-387D-FF66A234470B}"/>
              </a:ext>
            </a:extLst>
          </p:cNvPr>
          <p:cNvCxnSpPr>
            <a:endCxn id="20" idx="1"/>
          </p:cNvCxnSpPr>
          <p:nvPr/>
        </p:nvCxnSpPr>
        <p:spPr>
          <a:xfrm>
            <a:off x="2286000" y="1371600"/>
            <a:ext cx="1371600" cy="27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929AFA-FAB0-EE7D-996D-8AA8261530B7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2286000" y="1867711"/>
            <a:ext cx="1371600" cy="738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14DFB1-FE60-446A-A056-9443CF37EEB0}"/>
              </a:ext>
            </a:extLst>
          </p:cNvPr>
          <p:cNvCxnSpPr>
            <a:endCxn id="21" idx="3"/>
          </p:cNvCxnSpPr>
          <p:nvPr/>
        </p:nvCxnSpPr>
        <p:spPr>
          <a:xfrm flipH="1">
            <a:off x="5486400" y="1371600"/>
            <a:ext cx="1371480" cy="27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B4F489-4D28-0B1C-F098-3D2BE8578C19}"/>
              </a:ext>
            </a:extLst>
          </p:cNvPr>
          <p:cNvCxnSpPr>
            <a:stCxn id="36" idx="1"/>
          </p:cNvCxnSpPr>
          <p:nvPr/>
        </p:nvCxnSpPr>
        <p:spPr>
          <a:xfrm flipH="1" flipV="1">
            <a:off x="5415064" y="1920240"/>
            <a:ext cx="1442816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3DA7C5-03B9-2156-256A-DA0E68FB68D7}"/>
              </a:ext>
            </a:extLst>
          </p:cNvPr>
          <p:cNvSpPr txBox="1"/>
          <p:nvPr/>
        </p:nvSpPr>
        <p:spPr>
          <a:xfrm>
            <a:off x="6654776" y="133527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A1A3A-EFAB-82F5-AF22-33A026F4067C}"/>
              </a:ext>
            </a:extLst>
          </p:cNvPr>
          <p:cNvSpPr txBox="1"/>
          <p:nvPr/>
        </p:nvSpPr>
        <p:spPr>
          <a:xfrm>
            <a:off x="5421550" y="1579121"/>
            <a:ext cx="28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A1F9D-7BD5-D971-2B84-444B92BEC4E0}"/>
              </a:ext>
            </a:extLst>
          </p:cNvPr>
          <p:cNvSpPr txBox="1"/>
          <p:nvPr/>
        </p:nvSpPr>
        <p:spPr>
          <a:xfrm>
            <a:off x="6659163" y="252518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6EE7D-57D3-E6F9-8283-1200FA5CC35F}"/>
              </a:ext>
            </a:extLst>
          </p:cNvPr>
          <p:cNvSpPr txBox="1"/>
          <p:nvPr/>
        </p:nvSpPr>
        <p:spPr>
          <a:xfrm>
            <a:off x="5415064" y="1956567"/>
            <a:ext cx="28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4CB20-5BDE-9F73-01C4-4DCF087495C9}"/>
              </a:ext>
            </a:extLst>
          </p:cNvPr>
          <p:cNvSpPr txBox="1"/>
          <p:nvPr/>
        </p:nvSpPr>
        <p:spPr>
          <a:xfrm>
            <a:off x="3411166" y="1906669"/>
            <a:ext cx="28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B06C3-752F-95A2-1208-1CF1E1F3FDC2}"/>
              </a:ext>
            </a:extLst>
          </p:cNvPr>
          <p:cNvSpPr txBox="1"/>
          <p:nvPr/>
        </p:nvSpPr>
        <p:spPr>
          <a:xfrm>
            <a:off x="3395898" y="1581494"/>
            <a:ext cx="285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0E99F9-61AE-5E70-B6BD-F6F4FB14CEA7}"/>
              </a:ext>
            </a:extLst>
          </p:cNvPr>
          <p:cNvSpPr txBox="1"/>
          <p:nvPr/>
        </p:nvSpPr>
        <p:spPr>
          <a:xfrm>
            <a:off x="2286000" y="252518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5EB8C4-3A30-3120-64CD-083FF379C832}"/>
              </a:ext>
            </a:extLst>
          </p:cNvPr>
          <p:cNvSpPr txBox="1"/>
          <p:nvPr/>
        </p:nvSpPr>
        <p:spPr>
          <a:xfrm>
            <a:off x="2210708" y="134434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862EAFF-4A94-7027-03F9-99C31D909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56F6812-3FEF-6158-3250-A189B45F4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X Measures Part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5. DAX Measures Documentation — Core Measures</a:t>
            </a:r>
          </a:p>
        </p:txBody>
      </p:sp>
      <p:sp>
        <p:nvSpPr>
          <p:cNvPr id="20" name="Card 20"/>
          <p:cNvSpPr/>
          <p:nvPr/>
        </p:nvSpPr>
        <p:spPr>
          <a:xfrm>
            <a:off x="274320" y="763621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1" name="Text 21"/>
          <p:cNvSpPr/>
          <p:nvPr/>
        </p:nvSpPr>
        <p:spPr>
          <a:xfrm>
            <a:off x="365760" y="7315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Total Sales</a:t>
            </a:r>
          </a:p>
        </p:txBody>
      </p:sp>
      <p:sp>
        <p:nvSpPr>
          <p:cNvPr id="22" name="Text 22"/>
          <p:cNvSpPr/>
          <p:nvPr/>
        </p:nvSpPr>
        <p:spPr>
          <a:xfrm>
            <a:off x="36576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SUM(Orders[Sales])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Calculates total revenue generated.</a:t>
            </a:r>
          </a:p>
        </p:txBody>
      </p:sp>
      <p:sp>
        <p:nvSpPr>
          <p:cNvPr id="23" name="Card 23"/>
          <p:cNvSpPr/>
          <p:nvPr/>
        </p:nvSpPr>
        <p:spPr>
          <a:xfrm>
            <a:off x="4892040" y="763621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4" name="Text 24"/>
          <p:cNvSpPr/>
          <p:nvPr/>
        </p:nvSpPr>
        <p:spPr>
          <a:xfrm>
            <a:off x="4983480" y="7315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Total Profit</a:t>
            </a:r>
          </a:p>
        </p:txBody>
      </p:sp>
      <p:sp>
        <p:nvSpPr>
          <p:cNvPr id="25" name="Text 25"/>
          <p:cNvSpPr/>
          <p:nvPr/>
        </p:nvSpPr>
        <p:spPr>
          <a:xfrm>
            <a:off x="498348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SUM(Orders[Profit])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Calculates total profit across all orders.</a:t>
            </a:r>
          </a:p>
        </p:txBody>
      </p:sp>
      <p:sp>
        <p:nvSpPr>
          <p:cNvPr id="26" name="Card 26"/>
          <p:cNvSpPr/>
          <p:nvPr/>
        </p:nvSpPr>
        <p:spPr>
          <a:xfrm>
            <a:off x="274320" y="139446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7" name="Text 27"/>
          <p:cNvSpPr/>
          <p:nvPr/>
        </p:nvSpPr>
        <p:spPr>
          <a:xfrm>
            <a:off x="365760" y="13716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Total Orders</a:t>
            </a:r>
          </a:p>
        </p:txBody>
      </p:sp>
      <p:sp>
        <p:nvSpPr>
          <p:cNvPr id="28" name="Text 28"/>
          <p:cNvSpPr/>
          <p:nvPr/>
        </p:nvSpPr>
        <p:spPr>
          <a:xfrm>
            <a:off x="36576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DISTINCTCOUNT(Orders[Order ID])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Counts total distinct orders.</a:t>
            </a:r>
          </a:p>
        </p:txBody>
      </p:sp>
      <p:sp>
        <p:nvSpPr>
          <p:cNvPr id="29" name="Card 29"/>
          <p:cNvSpPr/>
          <p:nvPr/>
        </p:nvSpPr>
        <p:spPr>
          <a:xfrm>
            <a:off x="4892040" y="1382949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0" name="Text 30"/>
          <p:cNvSpPr/>
          <p:nvPr/>
        </p:nvSpPr>
        <p:spPr>
          <a:xfrm>
            <a:off x="4983480" y="13716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Total Customers</a:t>
            </a:r>
          </a:p>
        </p:txBody>
      </p:sp>
      <p:sp>
        <p:nvSpPr>
          <p:cNvPr id="31" name="Text 31"/>
          <p:cNvSpPr/>
          <p:nvPr/>
        </p:nvSpPr>
        <p:spPr>
          <a:xfrm>
            <a:off x="498348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DISTINCTCOUNT(Customers[Customer ID])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Counts unique customers.</a:t>
            </a:r>
          </a:p>
        </p:txBody>
      </p:sp>
      <p:sp>
        <p:nvSpPr>
          <p:cNvPr id="32" name="Card 32"/>
          <p:cNvSpPr/>
          <p:nvPr/>
        </p:nvSpPr>
        <p:spPr>
          <a:xfrm>
            <a:off x="274320" y="202311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3" name="Text 33"/>
          <p:cNvSpPr/>
          <p:nvPr/>
        </p:nvSpPr>
        <p:spPr>
          <a:xfrm>
            <a:off x="365760" y="20116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Total Quantity</a:t>
            </a:r>
          </a:p>
        </p:txBody>
      </p:sp>
      <p:sp>
        <p:nvSpPr>
          <p:cNvPr id="34" name="Text 34"/>
          <p:cNvSpPr/>
          <p:nvPr/>
        </p:nvSpPr>
        <p:spPr>
          <a:xfrm>
            <a:off x="365760" y="2194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SUM(Orders[Quantity])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Calculates total quantity sold.</a:t>
            </a:r>
          </a:p>
        </p:txBody>
      </p:sp>
      <p:sp>
        <p:nvSpPr>
          <p:cNvPr id="35" name="Card 35"/>
          <p:cNvSpPr/>
          <p:nvPr/>
        </p:nvSpPr>
        <p:spPr>
          <a:xfrm>
            <a:off x="4892040" y="2019543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6" name="Text 36"/>
          <p:cNvSpPr/>
          <p:nvPr/>
        </p:nvSpPr>
        <p:spPr>
          <a:xfrm>
            <a:off x="4983480" y="20116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Profit Margin %</a:t>
            </a:r>
          </a:p>
        </p:txBody>
      </p:sp>
      <p:sp>
        <p:nvSpPr>
          <p:cNvPr id="37" name="Text 37"/>
          <p:cNvSpPr/>
          <p:nvPr/>
        </p:nvSpPr>
        <p:spPr>
          <a:xfrm>
            <a:off x="4983480" y="2194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DIVIDE([Total Profit],[Total Sales],0)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Measures profitability ratio.</a:t>
            </a:r>
          </a:p>
        </p:txBody>
      </p:sp>
      <p:sp>
        <p:nvSpPr>
          <p:cNvPr id="38" name="Card 38"/>
          <p:cNvSpPr/>
          <p:nvPr/>
        </p:nvSpPr>
        <p:spPr>
          <a:xfrm>
            <a:off x="274320" y="265176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9" name="Text 39"/>
          <p:cNvSpPr/>
          <p:nvPr/>
        </p:nvSpPr>
        <p:spPr>
          <a:xfrm>
            <a:off x="365760" y="26517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Avg Order Value</a:t>
            </a:r>
          </a:p>
        </p:txBody>
      </p:sp>
      <p:sp>
        <p:nvSpPr>
          <p:cNvPr id="40" name="Text 40"/>
          <p:cNvSpPr/>
          <p:nvPr/>
        </p:nvSpPr>
        <p:spPr>
          <a:xfrm>
            <a:off x="365760" y="2834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DIVIDE([Total Sales],[Total Orders],0)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Average revenue per order.</a:t>
            </a:r>
          </a:p>
        </p:txBody>
      </p:sp>
      <p:sp>
        <p:nvSpPr>
          <p:cNvPr id="41" name="Card 41"/>
          <p:cNvSpPr/>
          <p:nvPr/>
        </p:nvSpPr>
        <p:spPr>
          <a:xfrm>
            <a:off x="4892040" y="265784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42" name="Text 42"/>
          <p:cNvSpPr/>
          <p:nvPr/>
        </p:nvSpPr>
        <p:spPr>
          <a:xfrm>
            <a:off x="4983480" y="26517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Profit Per Order</a:t>
            </a:r>
          </a:p>
        </p:txBody>
      </p:sp>
      <p:sp>
        <p:nvSpPr>
          <p:cNvPr id="43" name="Text 43"/>
          <p:cNvSpPr/>
          <p:nvPr/>
        </p:nvSpPr>
        <p:spPr>
          <a:xfrm>
            <a:off x="4983480" y="2834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DIVIDE([Total Profit],[Total Orders],0)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Average profit per order.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A65F660-09C5-DF36-2159-F92678E4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60874F8-D9A4-EE5A-70B9-6976BC83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X Measures Part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5. DAX Measures Documentation — Time Intelligence</a:t>
            </a:r>
          </a:p>
        </p:txBody>
      </p:sp>
      <p:sp>
        <p:nvSpPr>
          <p:cNvPr id="20" name="Card 20"/>
          <p:cNvSpPr/>
          <p:nvPr/>
        </p:nvSpPr>
        <p:spPr>
          <a:xfrm>
            <a:off x="274320" y="75438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1" name="Text 21"/>
          <p:cNvSpPr/>
          <p:nvPr/>
        </p:nvSpPr>
        <p:spPr>
          <a:xfrm>
            <a:off x="365760" y="7315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Sales PY</a:t>
            </a:r>
          </a:p>
        </p:txBody>
      </p:sp>
      <p:sp>
        <p:nvSpPr>
          <p:cNvPr id="22" name="Text 22"/>
          <p:cNvSpPr/>
          <p:nvPr/>
        </p:nvSpPr>
        <p:spPr>
          <a:xfrm>
            <a:off x="36576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CALCULATE([Total Sales], SAMEPERIODLASTYEAR('Date Table'[Date]))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Previous-year sales for YoY comparison.</a:t>
            </a:r>
          </a:p>
        </p:txBody>
      </p:sp>
      <p:sp>
        <p:nvSpPr>
          <p:cNvPr id="23" name="Card 23"/>
          <p:cNvSpPr/>
          <p:nvPr/>
        </p:nvSpPr>
        <p:spPr>
          <a:xfrm>
            <a:off x="4892040" y="754623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4" name="Text 24"/>
          <p:cNvSpPr/>
          <p:nvPr/>
        </p:nvSpPr>
        <p:spPr>
          <a:xfrm>
            <a:off x="4983480" y="7315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Profit PY</a:t>
            </a:r>
          </a:p>
        </p:txBody>
      </p:sp>
      <p:sp>
        <p:nvSpPr>
          <p:cNvPr id="25" name="Text 25"/>
          <p:cNvSpPr/>
          <p:nvPr/>
        </p:nvSpPr>
        <p:spPr>
          <a:xfrm>
            <a:off x="498348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CALCULATE([Total Profit], SAMEPERIODLASTYEAR('Date Table'[Date]))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Previous-year profit value.</a:t>
            </a:r>
          </a:p>
        </p:txBody>
      </p:sp>
      <p:sp>
        <p:nvSpPr>
          <p:cNvPr id="26" name="Card 26"/>
          <p:cNvSpPr/>
          <p:nvPr/>
        </p:nvSpPr>
        <p:spPr>
          <a:xfrm>
            <a:off x="274320" y="1385705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7" name="Text 27"/>
          <p:cNvSpPr/>
          <p:nvPr/>
        </p:nvSpPr>
        <p:spPr>
          <a:xfrm>
            <a:off x="365760" y="13716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Orders PY</a:t>
            </a:r>
          </a:p>
        </p:txBody>
      </p:sp>
      <p:sp>
        <p:nvSpPr>
          <p:cNvPr id="28" name="Text 28"/>
          <p:cNvSpPr/>
          <p:nvPr/>
        </p:nvSpPr>
        <p:spPr>
          <a:xfrm>
            <a:off x="36576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CALCULATE([Total Orders], SAMEPERIODLASTYEAR('Date Table'[Date]))</a:t>
            </a:r>
          </a:p>
        </p:txBody>
      </p:sp>
      <p:sp>
        <p:nvSpPr>
          <p:cNvPr id="29" name="Card 29"/>
          <p:cNvSpPr/>
          <p:nvPr/>
        </p:nvSpPr>
        <p:spPr>
          <a:xfrm>
            <a:off x="4892040" y="1389272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0" name="Text 30"/>
          <p:cNvSpPr/>
          <p:nvPr/>
        </p:nvSpPr>
        <p:spPr>
          <a:xfrm>
            <a:off x="4983480" y="13716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Sales YoY Growth</a:t>
            </a:r>
          </a:p>
        </p:txBody>
      </p:sp>
      <p:sp>
        <p:nvSpPr>
          <p:cNvPr id="31" name="Text 31"/>
          <p:cNvSpPr/>
          <p:nvPr/>
        </p:nvSpPr>
        <p:spPr>
          <a:xfrm>
            <a:off x="498348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DIVIDE([Total Sales]-[Sales PY],[Sales PY],0)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Year-over-year growth rate as decimal.</a:t>
            </a:r>
          </a:p>
        </p:txBody>
      </p:sp>
      <p:sp>
        <p:nvSpPr>
          <p:cNvPr id="32" name="Card 32"/>
          <p:cNvSpPr/>
          <p:nvPr/>
        </p:nvSpPr>
        <p:spPr>
          <a:xfrm>
            <a:off x="274320" y="2039566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3" name="Text 33"/>
          <p:cNvSpPr/>
          <p:nvPr/>
        </p:nvSpPr>
        <p:spPr>
          <a:xfrm>
            <a:off x="365760" y="20116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Sales YoY Growth %</a:t>
            </a:r>
          </a:p>
        </p:txBody>
      </p:sp>
      <p:sp>
        <p:nvSpPr>
          <p:cNvPr id="34" name="Text 34"/>
          <p:cNvSpPr/>
          <p:nvPr/>
        </p:nvSpPr>
        <p:spPr>
          <a:xfrm>
            <a:off x="365760" y="2194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FORMAT([Sales YoY Growth],"0.0")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Formatted YoY growth percentage string.</a:t>
            </a:r>
          </a:p>
        </p:txBody>
      </p:sp>
      <p:sp>
        <p:nvSpPr>
          <p:cNvPr id="35" name="Card 35"/>
          <p:cNvSpPr/>
          <p:nvPr/>
        </p:nvSpPr>
        <p:spPr>
          <a:xfrm>
            <a:off x="4892040" y="203454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6" name="Text 36"/>
          <p:cNvSpPr/>
          <p:nvPr/>
        </p:nvSpPr>
        <p:spPr>
          <a:xfrm>
            <a:off x="4983480" y="20116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Sales Per Customer</a:t>
            </a:r>
          </a:p>
        </p:txBody>
      </p:sp>
      <p:sp>
        <p:nvSpPr>
          <p:cNvPr id="37" name="Text 37"/>
          <p:cNvSpPr/>
          <p:nvPr/>
        </p:nvSpPr>
        <p:spPr>
          <a:xfrm>
            <a:off x="4983480" y="2194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DIVIDE([Total Sales],[Total Customers],0)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Average revenue per customer.</a:t>
            </a:r>
          </a:p>
        </p:txBody>
      </p:sp>
      <p:sp>
        <p:nvSpPr>
          <p:cNvPr id="38" name="Card 38"/>
          <p:cNvSpPr/>
          <p:nvPr/>
        </p:nvSpPr>
        <p:spPr>
          <a:xfrm>
            <a:off x="274320" y="2680457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9" name="Text 39"/>
          <p:cNvSpPr/>
          <p:nvPr/>
        </p:nvSpPr>
        <p:spPr>
          <a:xfrm>
            <a:off x="365760" y="26517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Customer Rank</a:t>
            </a:r>
          </a:p>
        </p:txBody>
      </p:sp>
      <p:sp>
        <p:nvSpPr>
          <p:cNvPr id="40" name="Text 40"/>
          <p:cNvSpPr/>
          <p:nvPr/>
        </p:nvSpPr>
        <p:spPr>
          <a:xfrm>
            <a:off x="365760" y="2834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RANKX(ALL(Customers[Customer Name]),[Total Sales],,DESC,DENSE)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Ranks customers by total sales descending.</a:t>
            </a:r>
          </a:p>
        </p:txBody>
      </p:sp>
      <p:sp>
        <p:nvSpPr>
          <p:cNvPr id="41" name="Card 41"/>
          <p:cNvSpPr/>
          <p:nvPr/>
        </p:nvSpPr>
        <p:spPr>
          <a:xfrm>
            <a:off x="4892040" y="2679808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42" name="Text 42"/>
          <p:cNvSpPr/>
          <p:nvPr/>
        </p:nvSpPr>
        <p:spPr>
          <a:xfrm>
            <a:off x="4983480" y="26517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</a:rPr>
              <a:t>Top N Products Sales</a:t>
            </a:r>
          </a:p>
        </p:txBody>
      </p:sp>
      <p:sp>
        <p:nvSpPr>
          <p:cNvPr id="43" name="Text 43"/>
          <p:cNvSpPr/>
          <p:nvPr/>
        </p:nvSpPr>
        <p:spPr>
          <a:xfrm>
            <a:off x="4983480" y="2834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</a:rPr>
              <a:t>CALCULATE([Total Sales], TOPN(10, ALL(Products[Product Name]), [Total Sales]))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34F60F1-CCEA-3A09-B41D-1E9FDF9D8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8D5CB19-315A-A5D2-1D29-C713AD9B4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Insights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6. Business Insights</a:t>
            </a:r>
          </a:p>
        </p:txBody>
      </p:sp>
      <p:sp>
        <p:nvSpPr>
          <p:cNvPr id="20" name="Card 20"/>
          <p:cNvSpPr/>
          <p:nvPr/>
        </p:nvSpPr>
        <p:spPr>
          <a:xfrm>
            <a:off x="0" y="2431266"/>
            <a:ext cx="1737360" cy="134371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90CAF9"/>
            </a:solidFill>
          </a:ln>
        </p:spPr>
      </p:sp>
      <p:sp>
        <p:nvSpPr>
          <p:cNvPr id="21" name="Text 21"/>
          <p:cNvSpPr/>
          <p:nvPr/>
        </p:nvSpPr>
        <p:spPr>
          <a:xfrm>
            <a:off x="119329" y="250260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</a:rPr>
              <a:t>Technology Leads</a:t>
            </a:r>
          </a:p>
        </p:txBody>
      </p:sp>
      <p:sp>
        <p:nvSpPr>
          <p:cNvPr id="22" name="Text 22"/>
          <p:cNvSpPr/>
          <p:nvPr/>
        </p:nvSpPr>
        <p:spPr>
          <a:xfrm>
            <a:off x="119329" y="282264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Technology category generates the highest sales contribution across all product lines.</a:t>
            </a:r>
          </a:p>
        </p:txBody>
      </p:sp>
      <p:sp>
        <p:nvSpPr>
          <p:cNvPr id="23" name="Card 23"/>
          <p:cNvSpPr/>
          <p:nvPr/>
        </p:nvSpPr>
        <p:spPr>
          <a:xfrm>
            <a:off x="1869659" y="2411161"/>
            <a:ext cx="1737360" cy="1343714"/>
          </a:xfrm>
          <a:prstGeom prst="roundRect">
            <a:avLst>
              <a:gd name="adj" fmla="val 16667"/>
            </a:avLst>
          </a:prstGeom>
          <a:solidFill>
            <a:srgbClr val="EBF5EB"/>
          </a:solidFill>
          <a:ln w="12700">
            <a:solidFill>
              <a:srgbClr val="A5D6A7"/>
            </a:solidFill>
          </a:ln>
        </p:spPr>
      </p:sp>
      <p:sp>
        <p:nvSpPr>
          <p:cNvPr id="24" name="Text 24"/>
          <p:cNvSpPr/>
          <p:nvPr/>
        </p:nvSpPr>
        <p:spPr>
          <a:xfrm>
            <a:off x="1961099" y="243126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</a:rPr>
              <a:t>Top Sub-Categories</a:t>
            </a:r>
          </a:p>
        </p:txBody>
      </p:sp>
      <p:sp>
        <p:nvSpPr>
          <p:cNvPr id="25" name="Text 25"/>
          <p:cNvSpPr/>
          <p:nvPr/>
        </p:nvSpPr>
        <p:spPr>
          <a:xfrm>
            <a:off x="1961099" y="2822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Phones and Chairs are the best-performing sub-categories by revenue.</a:t>
            </a:r>
          </a:p>
        </p:txBody>
      </p:sp>
      <p:sp>
        <p:nvSpPr>
          <p:cNvPr id="26" name="Card 26"/>
          <p:cNvSpPr/>
          <p:nvPr/>
        </p:nvSpPr>
        <p:spPr>
          <a:xfrm>
            <a:off x="3698459" y="2385220"/>
            <a:ext cx="1737360" cy="1343713"/>
          </a:xfrm>
          <a:prstGeom prst="roundRect">
            <a:avLst>
              <a:gd name="adj" fmla="val 16667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</p:sp>
      <p:sp>
        <p:nvSpPr>
          <p:cNvPr id="27" name="Text 27"/>
          <p:cNvSpPr/>
          <p:nvPr/>
        </p:nvSpPr>
        <p:spPr>
          <a:xfrm>
            <a:off x="3789899" y="23923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</a:rPr>
              <a:t>Consumer Segment</a:t>
            </a:r>
          </a:p>
        </p:txBody>
      </p:sp>
      <p:sp>
        <p:nvSpPr>
          <p:cNvPr id="28" name="Text 28"/>
          <p:cNvSpPr/>
          <p:nvPr/>
        </p:nvSpPr>
        <p:spPr>
          <a:xfrm>
            <a:off x="3789899" y="27967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Consumer segment contributes the highest sales at 51% of total revenue.</a:t>
            </a:r>
          </a:p>
        </p:txBody>
      </p:sp>
      <p:sp>
        <p:nvSpPr>
          <p:cNvPr id="29" name="Card 29"/>
          <p:cNvSpPr/>
          <p:nvPr/>
        </p:nvSpPr>
        <p:spPr>
          <a:xfrm>
            <a:off x="5559685" y="2365766"/>
            <a:ext cx="1737360" cy="1343714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</p:sp>
      <p:sp>
        <p:nvSpPr>
          <p:cNvPr id="30" name="Text 30"/>
          <p:cNvSpPr/>
          <p:nvPr/>
        </p:nvSpPr>
        <p:spPr>
          <a:xfrm>
            <a:off x="5651125" y="245720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</a:rPr>
              <a:t>West Region Wins</a:t>
            </a:r>
          </a:p>
        </p:txBody>
      </p:sp>
      <p:sp>
        <p:nvSpPr>
          <p:cNvPr id="31" name="Text 31"/>
          <p:cNvSpPr/>
          <p:nvPr/>
        </p:nvSpPr>
        <p:spPr>
          <a:xfrm>
            <a:off x="5651125" y="2777245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West region outperforms all other regions with $725K in revenue (32% share).</a:t>
            </a:r>
          </a:p>
        </p:txBody>
      </p:sp>
      <p:sp>
        <p:nvSpPr>
          <p:cNvPr id="32" name="Card 32"/>
          <p:cNvSpPr/>
          <p:nvPr/>
        </p:nvSpPr>
        <p:spPr>
          <a:xfrm>
            <a:off x="7414425" y="2262005"/>
            <a:ext cx="1645920" cy="1538267"/>
          </a:xfrm>
          <a:prstGeom prst="roundRect">
            <a:avLst>
              <a:gd name="adj" fmla="val 16667"/>
            </a:avLst>
          </a:prstGeom>
          <a:solidFill>
            <a:srgbClr val="FCE4EC"/>
          </a:solidFill>
          <a:ln w="12700">
            <a:solidFill>
              <a:srgbClr val="EF9A9A"/>
            </a:solidFill>
          </a:ln>
        </p:spPr>
      </p:sp>
      <p:sp>
        <p:nvSpPr>
          <p:cNvPr id="33" name="Text 33"/>
          <p:cNvSpPr/>
          <p:nvPr/>
        </p:nvSpPr>
        <p:spPr>
          <a:xfrm>
            <a:off x="7505865" y="235344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</a:rPr>
              <a:t>Margin Challenge</a:t>
            </a:r>
          </a:p>
        </p:txBody>
      </p:sp>
      <p:sp>
        <p:nvSpPr>
          <p:cNvPr id="34" name="Text 34"/>
          <p:cNvSpPr/>
          <p:nvPr/>
        </p:nvSpPr>
        <p:spPr>
          <a:xfrm>
            <a:off x="7505865" y="2673485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</a:rPr>
              <a:t>Profit margin at 12.5% should be improved due to declining performance vs. goal.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28D93E3-3DF4-19FF-DD97-F8BF3C15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8B831B4-83A5-F0A0-3C2D-4E431EFC6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commendations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7. Recommendations &amp; Advises</a:t>
            </a:r>
          </a:p>
        </p:txBody>
      </p:sp>
      <p:sp>
        <p:nvSpPr>
          <p:cNvPr id="20" name="Card 20"/>
          <p:cNvSpPr/>
          <p:nvPr/>
        </p:nvSpPr>
        <p:spPr>
          <a:xfrm>
            <a:off x="274320" y="685800"/>
            <a:ext cx="548640" cy="9133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21" name="Text 21"/>
          <p:cNvSpPr/>
          <p:nvPr/>
        </p:nvSpPr>
        <p:spPr>
          <a:xfrm>
            <a:off x="274320" y="685800"/>
            <a:ext cx="548640" cy="91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2" name="Card 22"/>
          <p:cNvSpPr/>
          <p:nvPr/>
        </p:nvSpPr>
        <p:spPr>
          <a:xfrm>
            <a:off x="914400" y="685800"/>
            <a:ext cx="804672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3" name="Text 23"/>
          <p:cNvSpPr/>
          <p:nvPr/>
        </p:nvSpPr>
        <p:spPr>
          <a:xfrm>
            <a:off x="1005840" y="777240"/>
            <a:ext cx="7864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</a:rPr>
              <a:t>Focus Marketing</a:t>
            </a:r>
          </a:p>
        </p:txBody>
      </p:sp>
      <p:sp>
        <p:nvSpPr>
          <p:cNvPr id="24" name="Text 24"/>
          <p:cNvSpPr/>
          <p:nvPr/>
        </p:nvSpPr>
        <p:spPr>
          <a:xfrm>
            <a:off x="1005840" y="1097280"/>
            <a:ext cx="7864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Direct campaigns toward high-performing categories like Technology and top sub-categories such as Phones and Chairs.</a:t>
            </a:r>
          </a:p>
        </p:txBody>
      </p:sp>
      <p:sp>
        <p:nvSpPr>
          <p:cNvPr id="4" name="Card 24"/>
          <p:cNvSpPr/>
          <p:nvPr/>
        </p:nvSpPr>
        <p:spPr>
          <a:xfrm>
            <a:off x="274320" y="1736280"/>
            <a:ext cx="548640" cy="9133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25" name="Text 25"/>
          <p:cNvSpPr/>
          <p:nvPr/>
        </p:nvSpPr>
        <p:spPr>
          <a:xfrm>
            <a:off x="274320" y="1736280"/>
            <a:ext cx="548640" cy="91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26" name="Card 26"/>
          <p:cNvSpPr/>
          <p:nvPr/>
        </p:nvSpPr>
        <p:spPr>
          <a:xfrm>
            <a:off x="914400" y="1736280"/>
            <a:ext cx="804672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27" name="Text 27"/>
          <p:cNvSpPr/>
          <p:nvPr/>
        </p:nvSpPr>
        <p:spPr>
          <a:xfrm>
            <a:off x="1005840" y="1827720"/>
            <a:ext cx="7864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</a:rPr>
              <a:t>Improve Profitability</a:t>
            </a:r>
          </a:p>
        </p:txBody>
      </p:sp>
      <p:sp>
        <p:nvSpPr>
          <p:cNvPr id="28" name="Text 28"/>
          <p:cNvSpPr/>
          <p:nvPr/>
        </p:nvSpPr>
        <p:spPr>
          <a:xfrm>
            <a:off x="1005840" y="2147760"/>
            <a:ext cx="7864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Review and improve pricing or cost structures for low-margin products to meet profitability targets.</a:t>
            </a:r>
          </a:p>
        </p:txBody>
      </p:sp>
      <p:sp>
        <p:nvSpPr>
          <p:cNvPr id="5" name="Card 28"/>
          <p:cNvSpPr/>
          <p:nvPr/>
        </p:nvSpPr>
        <p:spPr>
          <a:xfrm>
            <a:off x="274320" y="2786760"/>
            <a:ext cx="548640" cy="9133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29" name="Text 29"/>
          <p:cNvSpPr/>
          <p:nvPr/>
        </p:nvSpPr>
        <p:spPr>
          <a:xfrm>
            <a:off x="274320" y="2786760"/>
            <a:ext cx="548640" cy="91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0" name="Card 30"/>
          <p:cNvSpPr/>
          <p:nvPr/>
        </p:nvSpPr>
        <p:spPr>
          <a:xfrm>
            <a:off x="914400" y="2786760"/>
            <a:ext cx="804672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1" name="Text 31"/>
          <p:cNvSpPr/>
          <p:nvPr/>
        </p:nvSpPr>
        <p:spPr>
          <a:xfrm>
            <a:off x="1005840" y="2878200"/>
            <a:ext cx="7864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</a:rPr>
              <a:t>Regional Expansion</a:t>
            </a:r>
          </a:p>
        </p:txBody>
      </p:sp>
      <p:sp>
        <p:nvSpPr>
          <p:cNvPr id="32" name="Text 32"/>
          <p:cNvSpPr/>
          <p:nvPr/>
        </p:nvSpPr>
        <p:spPr>
          <a:xfrm>
            <a:off x="1005840" y="3198240"/>
            <a:ext cx="7864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Expand strategies in high-performing West/East regions and investigate root causes in low-performing South states.</a:t>
            </a:r>
          </a:p>
        </p:txBody>
      </p:sp>
      <p:sp>
        <p:nvSpPr>
          <p:cNvPr id="6" name="Card 32"/>
          <p:cNvSpPr/>
          <p:nvPr/>
        </p:nvSpPr>
        <p:spPr>
          <a:xfrm>
            <a:off x="274320" y="3837240"/>
            <a:ext cx="548640" cy="9133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</a:ln>
        </p:spPr>
      </p:sp>
      <p:sp>
        <p:nvSpPr>
          <p:cNvPr id="33" name="Text 33"/>
          <p:cNvSpPr/>
          <p:nvPr/>
        </p:nvSpPr>
        <p:spPr>
          <a:xfrm>
            <a:off x="274320" y="3837240"/>
            <a:ext cx="548640" cy="91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34" name="Card 34"/>
          <p:cNvSpPr/>
          <p:nvPr/>
        </p:nvSpPr>
        <p:spPr>
          <a:xfrm>
            <a:off x="914400" y="3837240"/>
            <a:ext cx="804672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</p:sp>
      <p:sp>
        <p:nvSpPr>
          <p:cNvPr id="35" name="Text 35"/>
          <p:cNvSpPr/>
          <p:nvPr/>
        </p:nvSpPr>
        <p:spPr>
          <a:xfrm>
            <a:off x="1005840" y="3928680"/>
            <a:ext cx="7864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</a:rPr>
              <a:t>Customer Retention</a:t>
            </a:r>
          </a:p>
        </p:txBody>
      </p:sp>
      <p:sp>
        <p:nvSpPr>
          <p:cNvPr id="36" name="Text 36"/>
          <p:cNvSpPr/>
          <p:nvPr/>
        </p:nvSpPr>
        <p:spPr>
          <a:xfrm>
            <a:off x="1005840" y="4248720"/>
            <a:ext cx="7864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</a:rPr>
              <a:t>Develop targeted retention strategies for top-ranked customers who drive the highest sales contribution.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4A2015A-2C1B-2B84-EF1D-0C2237D64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0" y="9144"/>
            <a:ext cx="566928" cy="566928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690AC00-2CB6-EE51-20A4-C392FDD6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1232" y="82296"/>
            <a:ext cx="1188720" cy="429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1227</Words>
  <Application>Microsoft Office PowerPoint</Application>
  <PresentationFormat>On-screen Show (16:9)</PresentationFormat>
  <Paragraphs>225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Marwan Mohamed</cp:lastModifiedBy>
  <cp:revision>15</cp:revision>
  <dcterms:created xsi:type="dcterms:W3CDTF">2026-06-06T18:50:08Z</dcterms:created>
  <dcterms:modified xsi:type="dcterms:W3CDTF">2026-06-06T20:03:11Z</dcterms:modified>
</cp:coreProperties>
</file>